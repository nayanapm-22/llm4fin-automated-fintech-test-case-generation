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1" r:id="rId9"/>
    <p:sldId id="272" r:id="rId10"/>
    <p:sldId id="273" r:id="rId11"/>
    <p:sldId id="261" r:id="rId12"/>
    <p:sldId id="267" r:id="rId13"/>
    <p:sldId id="270" r:id="rId14"/>
    <p:sldId id="274" r:id="rId15"/>
    <p:sldId id="268" r:id="rId16"/>
    <p:sldId id="269" r:id="rId17"/>
  </p:sldIdLst>
  <p:sldSz cx="18288000" cy="10287000"/>
  <p:notesSz cx="6858000" cy="9144000"/>
  <p:embeddedFontLs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Maven Pro" panose="020B0604020202020204" charset="0"/>
      <p:regular r:id="rId20"/>
    </p:embeddedFont>
    <p:embeddedFont>
      <p:font typeface="Maven Pr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4622" autoAdjust="0"/>
  </p:normalViewPr>
  <p:slideViewPr>
    <p:cSldViewPr>
      <p:cViewPr varScale="1">
        <p:scale>
          <a:sx n="33" d="100"/>
          <a:sy n="33" d="100"/>
        </p:scale>
        <p:origin x="62" y="6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45450" y="3037683"/>
            <a:ext cx="14738467" cy="302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sz="5812" b="1" dirty="0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IT353 - DEEP LEARNING </a:t>
            </a:r>
          </a:p>
          <a:p>
            <a:pPr algn="ctr">
              <a:lnSpc>
                <a:spcPts val="4650"/>
              </a:lnSpc>
            </a:pPr>
            <a:endParaRPr lang="en-US" sz="5812" b="1" dirty="0">
              <a:solidFill>
                <a:srgbClr val="252930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  <a:p>
            <a:pPr algn="ctr">
              <a:lnSpc>
                <a:spcPts val="4650"/>
              </a:lnSpc>
            </a:pPr>
            <a:r>
              <a:rPr lang="en-US" sz="5812" b="1" dirty="0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LLM4Fin: Fully Automated TEST CASE</a:t>
            </a:r>
          </a:p>
          <a:p>
            <a:pPr algn="ctr">
              <a:lnSpc>
                <a:spcPts val="4650"/>
              </a:lnSpc>
            </a:pPr>
            <a:r>
              <a:rPr lang="en-US" sz="5812" b="1" dirty="0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GENERATION FOR FINTECH SOFTWARE</a:t>
            </a:r>
          </a:p>
          <a:p>
            <a:pPr algn="ctr">
              <a:lnSpc>
                <a:spcPts val="4650"/>
              </a:lnSpc>
            </a:pPr>
            <a:endParaRPr lang="en-US" sz="5812" b="1" dirty="0">
              <a:solidFill>
                <a:srgbClr val="252930"/>
              </a:solidFill>
              <a:latin typeface="Maven Pro Bold"/>
              <a:ea typeface="Maven Pro Bold"/>
              <a:cs typeface="Maven Pro Bold"/>
              <a:sym typeface="Maven Pro Bold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4297025" y="62960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39083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657548" y="293921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11618" y="7535984"/>
            <a:ext cx="11414875" cy="143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Presented by : Lekhana(231AI016)</a:t>
            </a:r>
          </a:p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                           Nandeesh(231AI022)</a:t>
            </a:r>
          </a:p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                        Nayana(231AI023)</a:t>
            </a:r>
          </a:p>
        </p:txBody>
      </p:sp>
      <p:sp>
        <p:nvSpPr>
          <p:cNvPr id="9" name="Freeform 9"/>
          <p:cNvSpPr/>
          <p:nvPr/>
        </p:nvSpPr>
        <p:spPr>
          <a:xfrm flipV="1">
            <a:off x="14542983" y="-104775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1358159"/>
                </a:moveTo>
                <a:lnTo>
                  <a:pt x="2716317" y="1358159"/>
                </a:lnTo>
                <a:lnTo>
                  <a:pt x="2716317" y="0"/>
                </a:lnTo>
                <a:lnTo>
                  <a:pt x="0" y="0"/>
                </a:lnTo>
                <a:lnTo>
                  <a:pt x="0" y="13581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60009" y="3429683"/>
            <a:ext cx="13967983" cy="5060039"/>
            <a:chOff x="0" y="0"/>
            <a:chExt cx="3678810" cy="1332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8810" cy="1332685"/>
            </a:xfrm>
            <a:custGeom>
              <a:avLst/>
              <a:gdLst/>
              <a:ahLst/>
              <a:cxnLst/>
              <a:rect l="l" t="t" r="r" b="b"/>
              <a:pathLst>
                <a:path w="3678810" h="1332685">
                  <a:moveTo>
                    <a:pt x="28267" y="0"/>
                  </a:moveTo>
                  <a:lnTo>
                    <a:pt x="3650543" y="0"/>
                  </a:lnTo>
                  <a:cubicBezTo>
                    <a:pt x="3666155" y="0"/>
                    <a:pt x="3678810" y="12656"/>
                    <a:pt x="3678810" y="28267"/>
                  </a:cubicBezTo>
                  <a:lnTo>
                    <a:pt x="3678810" y="1304418"/>
                  </a:lnTo>
                  <a:cubicBezTo>
                    <a:pt x="3678810" y="1320029"/>
                    <a:pt x="3666155" y="1332685"/>
                    <a:pt x="3650543" y="1332685"/>
                  </a:cubicBezTo>
                  <a:lnTo>
                    <a:pt x="28267" y="1332685"/>
                  </a:lnTo>
                  <a:cubicBezTo>
                    <a:pt x="20770" y="1332685"/>
                    <a:pt x="13580" y="1329707"/>
                    <a:pt x="8279" y="1324406"/>
                  </a:cubicBezTo>
                  <a:cubicBezTo>
                    <a:pt x="2978" y="1319105"/>
                    <a:pt x="0" y="1311915"/>
                    <a:pt x="0" y="1304418"/>
                  </a:cubicBezTo>
                  <a:lnTo>
                    <a:pt x="0" y="28267"/>
                  </a:lnTo>
                  <a:cubicBezTo>
                    <a:pt x="0" y="12656"/>
                    <a:pt x="12656" y="0"/>
                    <a:pt x="28267" y="0"/>
                  </a:cubicBezTo>
                  <a:close/>
                </a:path>
              </a:pathLst>
            </a:custGeom>
            <a:solidFill>
              <a:srgbClr val="C0B3A0">
                <a:alpha val="20784"/>
              </a:srgbClr>
            </a:solidFill>
            <a:ln w="47625" cap="rnd">
              <a:solidFill>
                <a:srgbClr val="000000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78810" cy="1370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62336" y="4371858"/>
            <a:ext cx="5515770" cy="2936807"/>
            <a:chOff x="0" y="0"/>
            <a:chExt cx="7354360" cy="3915742"/>
          </a:xfrm>
        </p:grpSpPr>
        <p:sp>
          <p:nvSpPr>
            <p:cNvPr id="6" name="TextBox 6"/>
            <p:cNvSpPr txBox="1"/>
            <p:nvPr/>
          </p:nvSpPr>
          <p:spPr>
            <a:xfrm>
              <a:off x="0" y="-304800"/>
              <a:ext cx="7354360" cy="1117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2741" lvl="1" indent="-436370" algn="just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Introduction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46541"/>
              <a:ext cx="7354360" cy="1117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2741" lvl="1" indent="-436370" algn="just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Problem Statement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797883"/>
              <a:ext cx="7354360" cy="1117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2741" lvl="1" indent="-436370" algn="just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Objectives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36257" y="4371858"/>
            <a:ext cx="5189268" cy="2936807"/>
            <a:chOff x="0" y="0"/>
            <a:chExt cx="6919024" cy="3915742"/>
          </a:xfrm>
        </p:grpSpPr>
        <p:sp>
          <p:nvSpPr>
            <p:cNvPr id="10" name="TextBox 10"/>
            <p:cNvSpPr txBox="1"/>
            <p:nvPr/>
          </p:nvSpPr>
          <p:spPr>
            <a:xfrm>
              <a:off x="127000" y="-304800"/>
              <a:ext cx="6792024" cy="1117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2741" lvl="1" indent="-436370" algn="just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Methodology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00" y="1246541"/>
              <a:ext cx="6792024" cy="1117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2741" lvl="1" indent="-436370" algn="just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Result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797883"/>
              <a:ext cx="6792024" cy="1117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2741" lvl="1" indent="-436370" algn="just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Future Work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95148" y="1860291"/>
            <a:ext cx="8297704" cy="84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7301" b="1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OVERVIEW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5361" y="4238452"/>
            <a:ext cx="13297277" cy="419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FinTech software must follow strict business rules before deployment.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Generating test cases manually is slow, costly, and error-prone.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LLM4Fin uses Large Language Models combined with algorithms to automatically generate test cases from natural language financial rules.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25293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999625" y="2095429"/>
            <a:ext cx="1228874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9000" b="1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INTRODUCTION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9361" y="1640836"/>
            <a:ext cx="10869180" cy="85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0"/>
              </a:lnSpc>
            </a:pPr>
            <a:r>
              <a:rPr lang="en-US" sz="7400" b="1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99247" y="3914775"/>
            <a:ext cx="12625928" cy="294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6"/>
              </a:lnSpc>
            </a:pPr>
            <a:r>
              <a:rPr lang="en-US" sz="3361" dirty="0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Writing test cases for financial software is currently a slow and expensive manual process that often leads to human mistakes because of the complex business rules involved.</a:t>
            </a:r>
          </a:p>
          <a:p>
            <a:pPr algn="just">
              <a:lnSpc>
                <a:spcPts val="4706"/>
              </a:lnSpc>
            </a:pPr>
            <a:endParaRPr lang="en-US" sz="3361" dirty="0">
              <a:solidFill>
                <a:srgbClr val="25293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algn="just">
              <a:lnSpc>
                <a:spcPts val="4706"/>
              </a:lnSpc>
            </a:pPr>
            <a:endParaRPr lang="en-US" sz="3361" dirty="0">
              <a:solidFill>
                <a:srgbClr val="25293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23669" y="1880071"/>
            <a:ext cx="7640663" cy="92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04546" y="3737786"/>
            <a:ext cx="13989912" cy="392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252D37"/>
                </a:solidFill>
                <a:latin typeface="Maven Pro"/>
                <a:ea typeface="Maven Pro"/>
                <a:cs typeface="Maven Pro"/>
                <a:sym typeface="Maven Pro"/>
              </a:rPr>
              <a:t>Find financial sentences automatically from SEC filing documents.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252D37"/>
                </a:solidFill>
                <a:latin typeface="Maven Pro"/>
                <a:ea typeface="Maven Pro"/>
                <a:cs typeface="Maven Pro"/>
                <a:sym typeface="Maven Pro"/>
              </a:rPr>
              <a:t>Identify important financial entities and values using NER from XBRL data.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252D37"/>
                </a:solidFill>
                <a:latin typeface="Maven Pro"/>
                <a:ea typeface="Maven Pro"/>
                <a:cs typeface="Maven Pro"/>
                <a:sym typeface="Maven Pro"/>
              </a:rPr>
              <a:t>Convert the extracted information into simple if-then business rules.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252D37"/>
                </a:solidFill>
                <a:latin typeface="Maven Pro"/>
                <a:ea typeface="Maven Pro"/>
                <a:cs typeface="Maven Pro"/>
                <a:sym typeface="Maven Pro"/>
              </a:rPr>
              <a:t>Create many test cases using techniques like boundary value and equivalence partitioning.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252D37"/>
                </a:solidFill>
                <a:latin typeface="Maven Pro"/>
                <a:ea typeface="Maven Pro"/>
                <a:cs typeface="Maven Pro"/>
                <a:sym typeface="Maven Pro"/>
              </a:rPr>
              <a:t>Ensure maximum coverage of business scenarios during testing.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637933" y="533862"/>
            <a:ext cx="17526821" cy="92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sz="8033" b="1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METHODOLOGY AND 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6561" y="3430953"/>
            <a:ext cx="15621000" cy="4857519"/>
            <a:chOff x="0" y="0"/>
            <a:chExt cx="1130137" cy="19128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0137" cy="1912882"/>
            </a:xfrm>
            <a:custGeom>
              <a:avLst/>
              <a:gdLst/>
              <a:ahLst/>
              <a:cxnLst/>
              <a:rect l="l" t="t" r="r" b="b"/>
              <a:pathLst>
                <a:path w="1130137" h="1912882">
                  <a:moveTo>
                    <a:pt x="92016" y="0"/>
                  </a:moveTo>
                  <a:lnTo>
                    <a:pt x="1038122" y="0"/>
                  </a:lnTo>
                  <a:cubicBezTo>
                    <a:pt x="1062526" y="0"/>
                    <a:pt x="1085930" y="9694"/>
                    <a:pt x="1103186" y="26951"/>
                  </a:cubicBezTo>
                  <a:cubicBezTo>
                    <a:pt x="1120443" y="44207"/>
                    <a:pt x="1130137" y="67612"/>
                    <a:pt x="1130137" y="92016"/>
                  </a:cubicBezTo>
                  <a:lnTo>
                    <a:pt x="1130137" y="1820867"/>
                  </a:lnTo>
                  <a:cubicBezTo>
                    <a:pt x="1130137" y="1871686"/>
                    <a:pt x="1088940" y="1912882"/>
                    <a:pt x="1038122" y="1912882"/>
                  </a:cubicBezTo>
                  <a:lnTo>
                    <a:pt x="92016" y="1912882"/>
                  </a:lnTo>
                  <a:cubicBezTo>
                    <a:pt x="41197" y="1912882"/>
                    <a:pt x="0" y="1871686"/>
                    <a:pt x="0" y="1820867"/>
                  </a:cubicBezTo>
                  <a:lnTo>
                    <a:pt x="0" y="92016"/>
                  </a:lnTo>
                  <a:cubicBezTo>
                    <a:pt x="0" y="41197"/>
                    <a:pt x="41197" y="0"/>
                    <a:pt x="92016" y="0"/>
                  </a:cubicBezTo>
                  <a:close/>
                </a:path>
              </a:pathLst>
            </a:custGeom>
            <a:solidFill>
              <a:srgbClr val="C0B3A0">
                <a:alpha val="5372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30137" cy="1950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6220" y="1899763"/>
            <a:ext cx="1604168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1: Data Preparation and Terminology Base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1594" y="3873317"/>
            <a:ext cx="14510934" cy="3868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Cleaned and labeled</a:t>
            </a:r>
            <a:r>
              <a:rPr lang="en-US" sz="3200" dirty="0"/>
              <a:t> 10,000 SEC filing sentences → 8,377 unique sentences tagged as Testable or Non-Testable based on XBRL entities.</a:t>
            </a: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Balanced the dataset</a:t>
            </a:r>
            <a:r>
              <a:rPr lang="en-US" sz="3200" dirty="0"/>
              <a:t> using EDA augmentation (synonym replacement, word deletion, word swap) to fix 20/80 class imbalance → 50/50 split</a:t>
            </a: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Built terminology base</a:t>
            </a:r>
            <a:r>
              <a:rPr lang="en-US" sz="3200" dirty="0"/>
              <a:t> containing min/max boundary values for 118 XBRL entity types — used later to generate test cases.</a:t>
            </a:r>
            <a:endParaRPr lang="en-US" sz="2872" dirty="0">
              <a:solidFill>
                <a:srgbClr val="25293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6220" y="1760792"/>
            <a:ext cx="16704980" cy="6468808"/>
            <a:chOff x="0" y="0"/>
            <a:chExt cx="2230469" cy="9541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0469" cy="954162"/>
            </a:xfrm>
            <a:custGeom>
              <a:avLst/>
              <a:gdLst/>
              <a:ahLst/>
              <a:cxnLst/>
              <a:rect l="l" t="t" r="r" b="b"/>
              <a:pathLst>
                <a:path w="2230469" h="954162">
                  <a:moveTo>
                    <a:pt x="46623" y="0"/>
                  </a:moveTo>
                  <a:lnTo>
                    <a:pt x="2183847" y="0"/>
                  </a:lnTo>
                  <a:cubicBezTo>
                    <a:pt x="2209595" y="0"/>
                    <a:pt x="2230469" y="20874"/>
                    <a:pt x="2230469" y="46623"/>
                  </a:cubicBezTo>
                  <a:lnTo>
                    <a:pt x="2230469" y="907539"/>
                  </a:lnTo>
                  <a:cubicBezTo>
                    <a:pt x="2230469" y="919904"/>
                    <a:pt x="2225557" y="931763"/>
                    <a:pt x="2216814" y="940506"/>
                  </a:cubicBezTo>
                  <a:cubicBezTo>
                    <a:pt x="2208070" y="949250"/>
                    <a:pt x="2196211" y="954162"/>
                    <a:pt x="2183847" y="954162"/>
                  </a:cubicBezTo>
                  <a:lnTo>
                    <a:pt x="46623" y="954162"/>
                  </a:lnTo>
                  <a:cubicBezTo>
                    <a:pt x="20874" y="954162"/>
                    <a:pt x="0" y="933288"/>
                    <a:pt x="0" y="907539"/>
                  </a:cubicBezTo>
                  <a:lnTo>
                    <a:pt x="0" y="46623"/>
                  </a:lnTo>
                  <a:cubicBezTo>
                    <a:pt x="0" y="20874"/>
                    <a:pt x="20874" y="0"/>
                    <a:pt x="46623" y="0"/>
                  </a:cubicBezTo>
                  <a:close/>
                </a:path>
              </a:pathLst>
            </a:custGeom>
            <a:solidFill>
              <a:srgbClr val="C0B3A0">
                <a:alpha val="5372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30469" cy="992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2193" y="239185"/>
            <a:ext cx="15784986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2: Model Training &amp; Evaluation — </a:t>
            </a:r>
            <a:r>
              <a:rPr lang="en-US" sz="5199" b="1" dirty="0" err="1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FinBERT</a:t>
            </a:r>
            <a:endParaRPr lang="en-US" sz="5199" b="1" dirty="0">
              <a:solidFill>
                <a:srgbClr val="25293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6D824A34-8372-418C-0383-399530B1D31E}"/>
              </a:ext>
            </a:extLst>
          </p:cNvPr>
          <p:cNvSpPr txBox="1"/>
          <p:nvPr/>
        </p:nvSpPr>
        <p:spPr>
          <a:xfrm>
            <a:off x="1295400" y="2277548"/>
            <a:ext cx="14510934" cy="5176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Trained Rule Filtering Model</a:t>
            </a:r>
            <a:r>
              <a:rPr lang="en-US" sz="3200" dirty="0"/>
              <a:t> by fine-tuning </a:t>
            </a:r>
            <a:r>
              <a:rPr lang="en-US" sz="3200" dirty="0" err="1"/>
              <a:t>FinBERT</a:t>
            </a:r>
            <a:r>
              <a:rPr lang="en-US" sz="3200" dirty="0"/>
              <a:t> as a binary classifier to identify Testable vs Non-Testable sentences — achieved </a:t>
            </a:r>
            <a:r>
              <a:rPr lang="en-US" sz="3200" b="1" dirty="0"/>
              <a:t>97.91% accuracy.</a:t>
            </a: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Trained NER Extraction Model</a:t>
            </a:r>
            <a:r>
              <a:rPr lang="en-US" sz="3200" dirty="0"/>
              <a:t> by fine-tuning </a:t>
            </a:r>
            <a:r>
              <a:rPr lang="en-US" sz="3200" dirty="0" err="1"/>
              <a:t>FinBERT</a:t>
            </a:r>
            <a:r>
              <a:rPr lang="en-US" sz="3200" dirty="0"/>
              <a:t> for token-level classification to extract XBRL financial entities from testable sentences — evaluated using entity-level F1 score.</a:t>
            </a: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Evaluated combined pipeline</a:t>
            </a:r>
            <a:r>
              <a:rPr lang="en-US" sz="3200" dirty="0"/>
              <a:t> by chaining both models together — Rule Filter first identifies testable sentences, then NER extracts financial entities from them automatically.</a:t>
            </a:r>
            <a:endParaRPr lang="en-US" sz="2872" dirty="0">
              <a:solidFill>
                <a:srgbClr val="25293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A7882-9DF5-A46D-0258-274F7535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18571D-9271-CC17-57ED-252E3410716A}"/>
              </a:ext>
            </a:extLst>
          </p:cNvPr>
          <p:cNvGrpSpPr/>
          <p:nvPr/>
        </p:nvGrpSpPr>
        <p:grpSpPr>
          <a:xfrm>
            <a:off x="1905000" y="1760792"/>
            <a:ext cx="14510934" cy="6887908"/>
            <a:chOff x="0" y="0"/>
            <a:chExt cx="2230469" cy="9541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F58541-660B-2315-9C89-72D1E50D4C6F}"/>
                </a:ext>
              </a:extLst>
            </p:cNvPr>
            <p:cNvSpPr/>
            <p:nvPr/>
          </p:nvSpPr>
          <p:spPr>
            <a:xfrm>
              <a:off x="0" y="0"/>
              <a:ext cx="2230469" cy="954162"/>
            </a:xfrm>
            <a:custGeom>
              <a:avLst/>
              <a:gdLst/>
              <a:ahLst/>
              <a:cxnLst/>
              <a:rect l="l" t="t" r="r" b="b"/>
              <a:pathLst>
                <a:path w="2230469" h="954162">
                  <a:moveTo>
                    <a:pt x="46623" y="0"/>
                  </a:moveTo>
                  <a:lnTo>
                    <a:pt x="2183847" y="0"/>
                  </a:lnTo>
                  <a:cubicBezTo>
                    <a:pt x="2209595" y="0"/>
                    <a:pt x="2230469" y="20874"/>
                    <a:pt x="2230469" y="46623"/>
                  </a:cubicBezTo>
                  <a:lnTo>
                    <a:pt x="2230469" y="907539"/>
                  </a:lnTo>
                  <a:cubicBezTo>
                    <a:pt x="2230469" y="919904"/>
                    <a:pt x="2225557" y="931763"/>
                    <a:pt x="2216814" y="940506"/>
                  </a:cubicBezTo>
                  <a:cubicBezTo>
                    <a:pt x="2208070" y="949250"/>
                    <a:pt x="2196211" y="954162"/>
                    <a:pt x="2183847" y="954162"/>
                  </a:cubicBezTo>
                  <a:lnTo>
                    <a:pt x="46623" y="954162"/>
                  </a:lnTo>
                  <a:cubicBezTo>
                    <a:pt x="20874" y="954162"/>
                    <a:pt x="0" y="933288"/>
                    <a:pt x="0" y="907539"/>
                  </a:cubicBezTo>
                  <a:lnTo>
                    <a:pt x="0" y="46623"/>
                  </a:lnTo>
                  <a:cubicBezTo>
                    <a:pt x="0" y="20874"/>
                    <a:pt x="20874" y="0"/>
                    <a:pt x="46623" y="0"/>
                  </a:cubicBezTo>
                  <a:close/>
                </a:path>
              </a:pathLst>
            </a:custGeom>
            <a:solidFill>
              <a:srgbClr val="C0B3A0">
                <a:alpha val="53725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0AE684E-C889-0063-674F-880F32562875}"/>
                </a:ext>
              </a:extLst>
            </p:cNvPr>
            <p:cNvSpPr txBox="1"/>
            <p:nvPr/>
          </p:nvSpPr>
          <p:spPr>
            <a:xfrm>
              <a:off x="0" y="-38100"/>
              <a:ext cx="2230469" cy="992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6C43BF8-84CF-A5E4-BD82-1901057F350C}"/>
              </a:ext>
            </a:extLst>
          </p:cNvPr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09908D-7BC1-816D-CFBE-CBAA374E6EDC}"/>
              </a:ext>
            </a:extLst>
          </p:cNvPr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28631C9-9E40-F70A-89F9-0D673BB7517A}"/>
              </a:ext>
            </a:extLst>
          </p:cNvPr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E778DE5-B0CB-CD87-8CB6-28D42827AF1E}"/>
              </a:ext>
            </a:extLst>
          </p:cNvPr>
          <p:cNvSpPr txBox="1"/>
          <p:nvPr/>
        </p:nvSpPr>
        <p:spPr>
          <a:xfrm>
            <a:off x="533426" y="419100"/>
            <a:ext cx="16704980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 : Formal Rule Assembly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C3BC0500-2B10-52B3-D0AD-1D5D04911A52}"/>
              </a:ext>
            </a:extLst>
          </p:cNvPr>
          <p:cNvSpPr txBox="1"/>
          <p:nvPr/>
        </p:nvSpPr>
        <p:spPr>
          <a:xfrm>
            <a:off x="2286000" y="3162300"/>
            <a:ext cx="13672734" cy="3868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Converted extracted entities into formal IF-THEN business rules</a:t>
            </a:r>
            <a:r>
              <a:rPr lang="en-US" sz="3200" dirty="0"/>
              <a:t> — each financial entity becomes a condition in the rule, verified using min/max boundary values from the terminology base. </a:t>
            </a: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Assembled complete test scenarios</a:t>
            </a:r>
            <a:r>
              <a:rPr lang="en-US" sz="3200" dirty="0"/>
              <a:t> with initial and terminal states — 1,103 formal rules organized into ordered test scenarios, ready for test case generation.</a:t>
            </a:r>
            <a:endParaRPr lang="en-US" sz="2872" dirty="0">
              <a:solidFill>
                <a:srgbClr val="25293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408953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3BC23-0722-FB5B-B845-05C1CEB6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8318161-E0DA-E1E9-11E8-489D08D7334C}"/>
              </a:ext>
            </a:extLst>
          </p:cNvPr>
          <p:cNvGrpSpPr/>
          <p:nvPr/>
        </p:nvGrpSpPr>
        <p:grpSpPr>
          <a:xfrm>
            <a:off x="685800" y="1909096"/>
            <a:ext cx="16704980" cy="6468808"/>
            <a:chOff x="0" y="0"/>
            <a:chExt cx="2230469" cy="9541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6FDE6D-C177-6FE1-4DF4-C3E0DFF236A2}"/>
                </a:ext>
              </a:extLst>
            </p:cNvPr>
            <p:cNvSpPr/>
            <p:nvPr/>
          </p:nvSpPr>
          <p:spPr>
            <a:xfrm>
              <a:off x="0" y="0"/>
              <a:ext cx="2230469" cy="954162"/>
            </a:xfrm>
            <a:custGeom>
              <a:avLst/>
              <a:gdLst/>
              <a:ahLst/>
              <a:cxnLst/>
              <a:rect l="l" t="t" r="r" b="b"/>
              <a:pathLst>
                <a:path w="2230469" h="954162">
                  <a:moveTo>
                    <a:pt x="46623" y="0"/>
                  </a:moveTo>
                  <a:lnTo>
                    <a:pt x="2183847" y="0"/>
                  </a:lnTo>
                  <a:cubicBezTo>
                    <a:pt x="2209595" y="0"/>
                    <a:pt x="2230469" y="20874"/>
                    <a:pt x="2230469" y="46623"/>
                  </a:cubicBezTo>
                  <a:lnTo>
                    <a:pt x="2230469" y="907539"/>
                  </a:lnTo>
                  <a:cubicBezTo>
                    <a:pt x="2230469" y="919904"/>
                    <a:pt x="2225557" y="931763"/>
                    <a:pt x="2216814" y="940506"/>
                  </a:cubicBezTo>
                  <a:cubicBezTo>
                    <a:pt x="2208070" y="949250"/>
                    <a:pt x="2196211" y="954162"/>
                    <a:pt x="2183847" y="954162"/>
                  </a:cubicBezTo>
                  <a:lnTo>
                    <a:pt x="46623" y="954162"/>
                  </a:lnTo>
                  <a:cubicBezTo>
                    <a:pt x="20874" y="954162"/>
                    <a:pt x="0" y="933288"/>
                    <a:pt x="0" y="907539"/>
                  </a:cubicBezTo>
                  <a:lnTo>
                    <a:pt x="0" y="46623"/>
                  </a:lnTo>
                  <a:cubicBezTo>
                    <a:pt x="0" y="20874"/>
                    <a:pt x="20874" y="0"/>
                    <a:pt x="46623" y="0"/>
                  </a:cubicBezTo>
                  <a:close/>
                </a:path>
              </a:pathLst>
            </a:custGeom>
            <a:solidFill>
              <a:srgbClr val="C0B3A0">
                <a:alpha val="53725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A694F8-2E00-8998-1F76-340509A50AF6}"/>
                </a:ext>
              </a:extLst>
            </p:cNvPr>
            <p:cNvSpPr txBox="1"/>
            <p:nvPr/>
          </p:nvSpPr>
          <p:spPr>
            <a:xfrm>
              <a:off x="0" y="-38100"/>
              <a:ext cx="2230469" cy="992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EC0F7B4-AE17-71A9-0C64-1DA880689A57}"/>
              </a:ext>
            </a:extLst>
          </p:cNvPr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1C023A7-8B10-F60E-B474-313A65B7F1AD}"/>
              </a:ext>
            </a:extLst>
          </p:cNvPr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BC042B8-77DE-2FDE-1E5C-82D673C9FE4B}"/>
              </a:ext>
            </a:extLst>
          </p:cNvPr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497BB1-B4E3-582B-FD33-371DF0AF7CF8}"/>
              </a:ext>
            </a:extLst>
          </p:cNvPr>
          <p:cNvSpPr txBox="1"/>
          <p:nvPr/>
        </p:nvSpPr>
        <p:spPr>
          <a:xfrm>
            <a:off x="892193" y="239185"/>
            <a:ext cx="15784986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4 : Test Case Generation 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CD801B03-35F9-6085-32EF-A3E2881400C1}"/>
              </a:ext>
            </a:extLst>
          </p:cNvPr>
          <p:cNvSpPr txBox="1"/>
          <p:nvPr/>
        </p:nvSpPr>
        <p:spPr>
          <a:xfrm>
            <a:off x="1295400" y="2277548"/>
            <a:ext cx="14510934" cy="5715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Applied Boundary Value Analysis</a:t>
            </a:r>
            <a:r>
              <a:rPr lang="en-US" sz="3200" dirty="0"/>
              <a:t> on each formal rule — generated test values at minimum, just below minimum, just above minimum, maximum, just below maximum, just above maximum for every numeric entity.</a:t>
            </a:r>
            <a:endParaRPr lang="en-US" sz="3200" dirty="0">
              <a:solidFill>
                <a:srgbClr val="25293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Applied Equivalence Partitioning</a:t>
            </a:r>
            <a:r>
              <a:rPr lang="en-US" sz="3200" dirty="0"/>
              <a:t> — divided input space into valid class (system should accept) and invalid class (system should reject), generating representative test values from each class.</a:t>
            </a:r>
          </a:p>
          <a:p>
            <a:pPr marL="457200" indent="-457200">
              <a:lnSpc>
                <a:spcPts val="5141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Generated 15,320 test cases</a:t>
            </a:r>
            <a:r>
              <a:rPr lang="en-US" sz="3200" dirty="0"/>
              <a:t> saved to CSV with test case ID, expected result (success/fail), strategy used, and actual test values — achieving </a:t>
            </a:r>
            <a:r>
              <a:rPr lang="en-US" sz="3200" b="1" dirty="0"/>
              <a:t>100% Business Scenario Coverage.</a:t>
            </a:r>
            <a:endParaRPr lang="en-US" sz="2872" dirty="0">
              <a:solidFill>
                <a:srgbClr val="25293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6196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8D898-0263-77C1-C45A-DF422410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348AE5-CBD3-BF50-239B-4D3DBAD9248B}"/>
              </a:ext>
            </a:extLst>
          </p:cNvPr>
          <p:cNvGrpSpPr/>
          <p:nvPr/>
        </p:nvGrpSpPr>
        <p:grpSpPr>
          <a:xfrm>
            <a:off x="806015" y="2301918"/>
            <a:ext cx="16704980" cy="6468808"/>
            <a:chOff x="0" y="0"/>
            <a:chExt cx="2230469" cy="9541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C43A37-D737-7E63-7614-EBA8D770DA20}"/>
                </a:ext>
              </a:extLst>
            </p:cNvPr>
            <p:cNvSpPr/>
            <p:nvPr/>
          </p:nvSpPr>
          <p:spPr>
            <a:xfrm>
              <a:off x="0" y="0"/>
              <a:ext cx="2230469" cy="954162"/>
            </a:xfrm>
            <a:custGeom>
              <a:avLst/>
              <a:gdLst/>
              <a:ahLst/>
              <a:cxnLst/>
              <a:rect l="l" t="t" r="r" b="b"/>
              <a:pathLst>
                <a:path w="2230469" h="954162">
                  <a:moveTo>
                    <a:pt x="46623" y="0"/>
                  </a:moveTo>
                  <a:lnTo>
                    <a:pt x="2183847" y="0"/>
                  </a:lnTo>
                  <a:cubicBezTo>
                    <a:pt x="2209595" y="0"/>
                    <a:pt x="2230469" y="20874"/>
                    <a:pt x="2230469" y="46623"/>
                  </a:cubicBezTo>
                  <a:lnTo>
                    <a:pt x="2230469" y="907539"/>
                  </a:lnTo>
                  <a:cubicBezTo>
                    <a:pt x="2230469" y="919904"/>
                    <a:pt x="2225557" y="931763"/>
                    <a:pt x="2216814" y="940506"/>
                  </a:cubicBezTo>
                  <a:cubicBezTo>
                    <a:pt x="2208070" y="949250"/>
                    <a:pt x="2196211" y="954162"/>
                    <a:pt x="2183847" y="954162"/>
                  </a:cubicBezTo>
                  <a:lnTo>
                    <a:pt x="46623" y="954162"/>
                  </a:lnTo>
                  <a:cubicBezTo>
                    <a:pt x="20874" y="954162"/>
                    <a:pt x="0" y="933288"/>
                    <a:pt x="0" y="907539"/>
                  </a:cubicBezTo>
                  <a:lnTo>
                    <a:pt x="0" y="46623"/>
                  </a:lnTo>
                  <a:cubicBezTo>
                    <a:pt x="0" y="20874"/>
                    <a:pt x="20874" y="0"/>
                    <a:pt x="46623" y="0"/>
                  </a:cubicBezTo>
                  <a:close/>
                </a:path>
              </a:pathLst>
            </a:custGeom>
            <a:solidFill>
              <a:srgbClr val="C0B3A0">
                <a:alpha val="53725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A91671-1A16-B24C-8038-A9623AA21A6F}"/>
                </a:ext>
              </a:extLst>
            </p:cNvPr>
            <p:cNvSpPr txBox="1"/>
            <p:nvPr/>
          </p:nvSpPr>
          <p:spPr>
            <a:xfrm>
              <a:off x="0" y="-38100"/>
              <a:ext cx="2230469" cy="992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58A48E8-D94D-FE5E-D69A-B0982CA4BB18}"/>
              </a:ext>
            </a:extLst>
          </p:cNvPr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9802DC5-C762-3BEC-B5E5-AF5ED014E381}"/>
              </a:ext>
            </a:extLst>
          </p:cNvPr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E64095C-12FB-A903-606D-FBDE35AD2204}"/>
              </a:ext>
            </a:extLst>
          </p:cNvPr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E75B134-8D14-A3C0-67E1-5209DDB5F903}"/>
              </a:ext>
            </a:extLst>
          </p:cNvPr>
          <p:cNvSpPr txBox="1"/>
          <p:nvPr/>
        </p:nvSpPr>
        <p:spPr>
          <a:xfrm>
            <a:off x="863609" y="546379"/>
            <a:ext cx="16589792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5 : Evaluation — Business Scenario Coverage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C63B4889-6CE0-A133-83D0-B278C25265FA}"/>
              </a:ext>
            </a:extLst>
          </p:cNvPr>
          <p:cNvSpPr txBox="1"/>
          <p:nvPr/>
        </p:nvSpPr>
        <p:spPr>
          <a:xfrm>
            <a:off x="1529219" y="2933700"/>
            <a:ext cx="14510934" cy="3647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Achieved 100% Business Scenario Coverage (BSC)</a:t>
            </a:r>
            <a:r>
              <a:rPr lang="en-US" sz="3200" dirty="0"/>
              <a:t> — every possible test path through every formal rule was triggered by our generated test cases, proving complete coverage of all financial business scenarios.</a:t>
            </a: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Full pipeline processed 8,369 sentences in 1.5 seconds</a:t>
            </a:r>
            <a:r>
              <a:rPr lang="en-US" sz="3200" dirty="0"/>
              <a:t> — compared to 20+ minutes manually, demonstrating LLM4Fin is significantly faster, more accurate, and fully automated with zero human effort.</a:t>
            </a:r>
            <a:endParaRPr lang="en-US" sz="2872" dirty="0">
              <a:solidFill>
                <a:srgbClr val="25293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72209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447" y="610925"/>
            <a:ext cx="16691853" cy="835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METHODOLOGY FLOW DIAGRAM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151525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4CE8C3-25D2-F255-695A-E6E8D3C402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562100"/>
            <a:ext cx="12714183" cy="84761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51021" y="-42940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86200" y="101748"/>
            <a:ext cx="9276663" cy="109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52C1E-496B-EEF9-0383-AD1D4AC6B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6394" y="2089161"/>
            <a:ext cx="8891954" cy="312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4A80B9-4EA4-5594-021F-20F1511BA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6394" y="5626026"/>
            <a:ext cx="8821842" cy="46609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434F69-12B7-3AF8-7D21-5F3DEDE0D3B3}"/>
              </a:ext>
            </a:extLst>
          </p:cNvPr>
          <p:cNvSpPr txBox="1"/>
          <p:nvPr/>
        </p:nvSpPr>
        <p:spPr>
          <a:xfrm>
            <a:off x="258110" y="2628900"/>
            <a:ext cx="8274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Rule Filtering Model validation results</a:t>
            </a:r>
            <a:endParaRPr lang="en-IN" sz="4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8D201-2D16-0F91-1B04-913D4E8303FC}"/>
              </a:ext>
            </a:extLst>
          </p:cNvPr>
          <p:cNvSpPr txBox="1"/>
          <p:nvPr/>
        </p:nvSpPr>
        <p:spPr>
          <a:xfrm>
            <a:off x="249765" y="6596272"/>
            <a:ext cx="89087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NER Entity Extraction Model Validation results</a:t>
            </a:r>
            <a:endParaRPr lang="en-IN" sz="40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913A1-89D7-E54D-B583-720A188C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B98F6D-AD6E-89C0-BF71-77F33F252823}"/>
              </a:ext>
            </a:extLst>
          </p:cNvPr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87F5E85-FFAB-CC95-7433-2BAC93C53DDF}"/>
              </a:ext>
            </a:extLst>
          </p:cNvPr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C720252-5C2F-BC63-7965-0FE3883D664C}"/>
              </a:ext>
            </a:extLst>
          </p:cNvPr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2D4F79-EA43-24B4-D43A-96C3AA684F10}"/>
              </a:ext>
            </a:extLst>
          </p:cNvPr>
          <p:cNvSpPr txBox="1"/>
          <p:nvPr/>
        </p:nvSpPr>
        <p:spPr>
          <a:xfrm>
            <a:off x="3657600" y="233682"/>
            <a:ext cx="9276663" cy="109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cases generated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6F074-9D70-5F11-17A4-D4BC0CDCC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540289"/>
            <a:ext cx="13335000" cy="850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15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9A28A-C03D-6B1E-4B6C-343DC717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956E8B-6F50-F81B-8523-56AC8438A8A3}"/>
              </a:ext>
            </a:extLst>
          </p:cNvPr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FD21350-96F8-74ED-8D55-3E599F6C2891}"/>
              </a:ext>
            </a:extLst>
          </p:cNvPr>
          <p:cNvSpPr/>
          <p:nvPr/>
        </p:nvSpPr>
        <p:spPr>
          <a:xfrm>
            <a:off x="9158505" y="9393749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0FFD3B5-8FC9-DDE6-3B82-C676D49109FE}"/>
              </a:ext>
            </a:extLst>
          </p:cNvPr>
          <p:cNvSpPr/>
          <p:nvPr/>
        </p:nvSpPr>
        <p:spPr>
          <a:xfrm>
            <a:off x="14500503" y="-4198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5F44B6E-5C92-1F0B-EB90-62483282B227}"/>
              </a:ext>
            </a:extLst>
          </p:cNvPr>
          <p:cNvSpPr/>
          <p:nvPr/>
        </p:nvSpPr>
        <p:spPr>
          <a:xfrm>
            <a:off x="3131407" y="1637561"/>
            <a:ext cx="12610987" cy="7756188"/>
          </a:xfrm>
          <a:custGeom>
            <a:avLst/>
            <a:gdLst/>
            <a:ahLst/>
            <a:cxnLst/>
            <a:rect l="l" t="t" r="r" b="b"/>
            <a:pathLst>
              <a:path w="12610987" h="7756188">
                <a:moveTo>
                  <a:pt x="0" y="0"/>
                </a:moveTo>
                <a:lnTo>
                  <a:pt x="12610987" y="0"/>
                </a:lnTo>
                <a:lnTo>
                  <a:pt x="12610987" y="7756188"/>
                </a:lnTo>
                <a:lnTo>
                  <a:pt x="0" y="7756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ACE6BE-ED4A-B8E7-A63D-D51A8F11257A}"/>
              </a:ext>
            </a:extLst>
          </p:cNvPr>
          <p:cNvSpPr txBox="1"/>
          <p:nvPr/>
        </p:nvSpPr>
        <p:spPr>
          <a:xfrm>
            <a:off x="3657600" y="233682"/>
            <a:ext cx="9276663" cy="109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1" dirty="0">
                <a:solidFill>
                  <a:srgbClr val="2529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Results</a:t>
            </a:r>
          </a:p>
        </p:txBody>
      </p:sp>
    </p:spTree>
    <p:extLst>
      <p:ext uri="{BB962C8B-B14F-4D97-AF65-F5344CB8AC3E}">
        <p14:creationId xmlns:p14="http://schemas.microsoft.com/office/powerpoint/2010/main" val="2395237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2833" y="2816527"/>
            <a:ext cx="13578308" cy="5808795"/>
            <a:chOff x="0" y="0"/>
            <a:chExt cx="3576180" cy="1529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76180" cy="1529888"/>
            </a:xfrm>
            <a:custGeom>
              <a:avLst/>
              <a:gdLst/>
              <a:ahLst/>
              <a:cxnLst/>
              <a:rect l="l" t="t" r="r" b="b"/>
              <a:pathLst>
                <a:path w="3576180" h="1529888">
                  <a:moveTo>
                    <a:pt x="29079" y="0"/>
                  </a:moveTo>
                  <a:lnTo>
                    <a:pt x="3547101" y="0"/>
                  </a:lnTo>
                  <a:cubicBezTo>
                    <a:pt x="3554813" y="0"/>
                    <a:pt x="3562210" y="3064"/>
                    <a:pt x="3567663" y="8517"/>
                  </a:cubicBezTo>
                  <a:cubicBezTo>
                    <a:pt x="3573116" y="13970"/>
                    <a:pt x="3576180" y="21366"/>
                    <a:pt x="3576180" y="29079"/>
                  </a:cubicBezTo>
                  <a:lnTo>
                    <a:pt x="3576180" y="1500810"/>
                  </a:lnTo>
                  <a:cubicBezTo>
                    <a:pt x="3576180" y="1508522"/>
                    <a:pt x="3573116" y="1515918"/>
                    <a:pt x="3567663" y="1521371"/>
                  </a:cubicBezTo>
                  <a:cubicBezTo>
                    <a:pt x="3562210" y="1526825"/>
                    <a:pt x="3554813" y="1529888"/>
                    <a:pt x="3547101" y="1529888"/>
                  </a:cubicBezTo>
                  <a:lnTo>
                    <a:pt x="29079" y="1529888"/>
                  </a:lnTo>
                  <a:cubicBezTo>
                    <a:pt x="21366" y="1529888"/>
                    <a:pt x="13970" y="1526825"/>
                    <a:pt x="8517" y="1521371"/>
                  </a:cubicBezTo>
                  <a:cubicBezTo>
                    <a:pt x="3064" y="1515918"/>
                    <a:pt x="0" y="1508522"/>
                    <a:pt x="0" y="1500810"/>
                  </a:cubicBezTo>
                  <a:lnTo>
                    <a:pt x="0" y="29079"/>
                  </a:lnTo>
                  <a:cubicBezTo>
                    <a:pt x="0" y="21366"/>
                    <a:pt x="3064" y="13970"/>
                    <a:pt x="8517" y="8517"/>
                  </a:cubicBezTo>
                  <a:cubicBezTo>
                    <a:pt x="13970" y="3064"/>
                    <a:pt x="21366" y="0"/>
                    <a:pt x="29079" y="0"/>
                  </a:cubicBezTo>
                  <a:close/>
                </a:path>
              </a:pathLst>
            </a:custGeom>
            <a:solidFill>
              <a:srgbClr val="C0B3A0">
                <a:alpha val="5372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76180" cy="1567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10527" y="3253895"/>
            <a:ext cx="12802921" cy="5265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1569" lvl="1" algn="ctr">
              <a:lnSpc>
                <a:spcPts val="4559"/>
              </a:lnSpc>
            </a:pPr>
            <a:r>
              <a:rPr lang="en-US" sz="3200" dirty="0"/>
              <a:t>LLM4Fin successfully automates the entire acceptance test case generation pipeline for FinTech software — from raw SEC filing sentences to 15,320 structured test cases — with zero human effort. Using two fine-tuned </a:t>
            </a:r>
            <a:r>
              <a:rPr lang="en-US" sz="3200" dirty="0" err="1"/>
              <a:t>FinBERT</a:t>
            </a:r>
            <a:r>
              <a:rPr lang="en-US" sz="3200" dirty="0"/>
              <a:t> models, we achieved 97.91% rule filtering accuracy and 78.46% NER F1 score, generating test cases with 100% Business Scenario Coverage in just 1.5 seconds. This proves that combining domain-specific LLMs with algorithmic test generation strategies like Boundary Value Analysis and Equivalence Partitioning significantly outperforms both manual testing and general-purpose LLMs like ChatGPT.</a:t>
            </a:r>
            <a:endParaRPr lang="en-US" sz="3200" dirty="0">
              <a:solidFill>
                <a:srgbClr val="252D37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91299" y="1035219"/>
            <a:ext cx="8865010" cy="84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7"/>
              </a:lnSpc>
            </a:pPr>
            <a:r>
              <a:rPr lang="en-US" sz="8121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Conclusion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54150" y="4327822"/>
            <a:ext cx="12779699" cy="179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35"/>
              </a:lnSpc>
            </a:pPr>
            <a:r>
              <a:rPr lang="en-US" sz="15544" b="1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6974593"/>
            <a:ext cx="809919" cy="3227938"/>
          </a:xfrm>
          <a:custGeom>
            <a:avLst/>
            <a:gdLst/>
            <a:ahLst/>
            <a:cxnLst/>
            <a:rect l="l" t="t" r="r" b="b"/>
            <a:pathLst>
              <a:path w="809919" h="3227938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3969" y="8304597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7582856" y="118636"/>
            <a:ext cx="809919" cy="3227938"/>
          </a:xfrm>
          <a:custGeom>
            <a:avLst/>
            <a:gdLst/>
            <a:ahLst/>
            <a:cxnLst/>
            <a:rect l="l" t="t" r="r" b="b"/>
            <a:pathLst>
              <a:path w="809919" h="3227938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2517066" y="-114300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691</Words>
  <Application>Microsoft Office PowerPoint</Application>
  <PresentationFormat>Custom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Maven Pro</vt:lpstr>
      <vt:lpstr>Canva Sans Bold</vt:lpstr>
      <vt:lpstr>Calibri</vt:lpstr>
      <vt:lpstr>Arial</vt:lpstr>
      <vt:lpstr>Canva Sans</vt:lpstr>
      <vt:lpstr>Maven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IT353 - Deep Learning LLM4Fin: Fully Automated Test Case Generation for FinTech Software</dc:title>
  <dc:creator>Nayana Yogeshwari PM</dc:creator>
  <cp:lastModifiedBy>naya na</cp:lastModifiedBy>
  <cp:revision>6</cp:revision>
  <dcterms:created xsi:type="dcterms:W3CDTF">2006-08-16T00:00:00Z</dcterms:created>
  <dcterms:modified xsi:type="dcterms:W3CDTF">2026-04-23T14:51:55Z</dcterms:modified>
  <dc:identifier>DAHC0ClkhXw</dc:identifier>
</cp:coreProperties>
</file>